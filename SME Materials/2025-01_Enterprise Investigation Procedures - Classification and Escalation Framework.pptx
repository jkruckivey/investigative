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4"/>
  </p:sldMasterIdLst>
  <p:notesMasterIdLst>
    <p:notesMasterId r:id="rId8"/>
  </p:notesMasterIdLst>
  <p:handoutMasterIdLst>
    <p:handoutMasterId r:id="rId9"/>
  </p:handoutMasterIdLst>
  <p:sldIdLst>
    <p:sldId id="2147475922" r:id="rId5"/>
    <p:sldId id="2147475923" r:id="rId6"/>
    <p:sldId id="2147475924" r:id="rId7"/>
  </p:sldIdLst>
  <p:sldSz cx="7772400" cy="10058400"/>
  <p:notesSz cx="7010400" cy="9296400"/>
  <p:custDataLst>
    <p:tags r:id="rId10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B7156C1-A4DC-4428-AA7B-355475F6D299}">
          <p14:sldIdLst>
            <p14:sldId id="2147475922"/>
            <p14:sldId id="2147475923"/>
            <p14:sldId id="214747592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849B439-34CD-94E1-95DE-5282D758FC22}" name="Markle, Ashley" initials="MA" userId="S::ashley.markle@mapleleaf.com::ca8cc4cf-5eb9-4f84-8912-8b00c091533d" providerId="AD"/>
  <p188:author id="{851B1A3D-8665-A330-0414-5A135A7F452E}" name="Kayla Dynan" initials="KD" userId="S::kdynan@nexuscommunications.com::60408a49-704e-480a-a6b7-1c50e9c82fd9" providerId="AD"/>
  <p188:author id="{1BF13444-F71C-8CB2-E57D-7FC1C4F286C0}" name="Melo, Amanda" initials="AM" userId="S::Amanda.melo@mapleleaf.com::68aca1c9-bcc1-4169-b730-8800666b5bc7" providerId="AD"/>
  <p188:author id="{E1EE015F-D05A-7896-D230-95AF62896331}" name="Melo, Amanda" initials="MA" userId="S::amanda.melo@mapleleaf.com::68aca1c9-bcc1-4169-b730-8800666b5bc7" providerId="AD"/>
  <p188:author id="{7E746B83-7828-F360-8D9A-8B47B85D824B}" name="Tamboli, Janine" initials="JT" userId="S::janine.tamboli@mapleleaf.com::53d2630d-7bc4-43de-bde5-7edd0d51853a" providerId="AD"/>
  <p188:author id="{1A593ABD-FE87-952A-6DD3-1BCD6C097EE0}" name="Ojomo, Edema" initials="EO" userId="S::edema.ojomo@mapleleaf.com::586db0a6-c031-48b8-ba07-fdd4165b4bfc" providerId="AD"/>
  <p188:author id="{2126ABD5-8E48-4C10-D977-FA4646045B78}" name="Koiki, Kiite" initials="FK" userId="S::kiite.koiki@mapleleaf.com::baa70189-7804-423e-9ace-b5e4aa606072" providerId="AD"/>
  <p188:author id="{4BDC42DC-BE2E-C31B-7B91-BDD11F31112A}" name="Jessica Lambe" initials="JL" userId="S::jlambe@nexuscommunications.com::6dcce960-c812-4394-bcf1-b0429ce455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5B"/>
    <a:srgbClr val="004AB5"/>
    <a:srgbClr val="053882"/>
    <a:srgbClr val="D6E6F6"/>
    <a:srgbClr val="E8312D"/>
    <a:srgbClr val="E42526"/>
    <a:srgbClr val="FFFFCC"/>
    <a:srgbClr val="91BEFF"/>
    <a:srgbClr val="4E96FF"/>
    <a:srgbClr val="005B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D8C5AC-9017-442E-A3BA-48A3DA66A5DF}" v="2" dt="2026-02-21T00:27:08.9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645" autoAdjust="0"/>
  </p:normalViewPr>
  <p:slideViewPr>
    <p:cSldViewPr snapToGrid="0">
      <p:cViewPr varScale="1">
        <p:scale>
          <a:sx n="71" d="100"/>
          <a:sy n="71" d="100"/>
        </p:scale>
        <p:origin x="2309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6F8E3E09-A7C2-BB4D-9CB0-025E2903BE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D19D015-A851-174A-BDC3-86E9D787C9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94473CB-718A-7B43-A282-DF3BEF4ACFF7}" type="datetimeFigureOut">
              <a:rPr lang="fr-FR" smtClean="0">
                <a:latin typeface="Arial" panose="020B0604020202020204" pitchFamily="34" charset="0"/>
              </a:rPr>
              <a:t>25/02/2026</a:t>
            </a:fld>
            <a:endParaRPr lang="fr-FR">
              <a:latin typeface="Arial" panose="020B0604020202020204" pitchFamily="34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9C08618-8E38-3849-910F-476E6C7666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C942046-CC7B-924E-B6EB-8D71B14E2F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8A66B37-C6C9-AC41-8156-1A2BFC7D4C25}" type="slidenum">
              <a:rPr lang="fr-FR" smtClean="0">
                <a:latin typeface="Arial" panose="020B0604020202020204" pitchFamily="34" charset="0"/>
              </a:rPr>
              <a:t>‹#›</a:t>
            </a:fld>
            <a:endParaRPr lang="fr-F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158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rtl="0">
              <a:defRPr sz="1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rtl="0">
              <a:defRPr sz="1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9005FCBA-46F4-B348-BBF9-40AA6251CB3A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2293938" y="1162050"/>
            <a:ext cx="242252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Cliquez pour modifier les styles du texte du masque</a:t>
            </a:r>
          </a:p>
          <a:p>
            <a:pPr lvl="1"/>
            <a:r>
              <a:rPr lang="en-US"/>
              <a:t>Deuxième niveau</a:t>
            </a:r>
          </a:p>
          <a:p>
            <a:pPr lvl="2"/>
            <a:r>
              <a:rPr lang="en-US"/>
              <a:t>Troisième niveau</a:t>
            </a:r>
          </a:p>
          <a:p>
            <a:pPr lvl="3"/>
            <a:r>
              <a:rPr lang="en-US"/>
              <a:t>Quatrième niveau</a:t>
            </a:r>
          </a:p>
          <a:p>
            <a:pPr lvl="4"/>
            <a:r>
              <a:rPr lang="en-US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rtl="0">
              <a:defRPr sz="1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rtl="0">
              <a:defRPr sz="1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8DEC9BEC-F8C0-1C4A-9378-B560E89A31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499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C9335-6B0F-D8B7-A72B-62CD2EBD9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8ABAA-7F51-F0C5-33E9-0D0785ABB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9DC83-F41D-60E8-AC2B-BDDCF1EE0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C5883-76F7-58B1-EC5D-A224F1390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C9BEC-F8C0-1C4A-9378-B560E89A31B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1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BA28B-D0F2-0E34-DD19-B047940A5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1956F-3644-07B7-22D5-DF0CB967D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1E100-61F7-D136-195A-EC3C360FA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C1E47-794E-7750-06F9-120014808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C9BEC-F8C0-1C4A-9378-B560E89A31B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30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1ABA1-14C1-57F1-5CA8-9C922D9F2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59A65-D04B-0590-DB21-5C07770F3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0E8CB-AFC9-1AFE-0E7F-CF8C68475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D30B4-76CB-3422-6A55-C73924618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C9BEC-F8C0-1C4A-9378-B560E89A31B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3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5E9DD720-B365-1FC5-AFD9-61A48B14C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9545" y="9469083"/>
            <a:ext cx="652849" cy="365125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pPr algn="r">
              <a:defRPr/>
            </a:pPr>
            <a:fld id="{11C6576D-367F-4A05-B18B-9AE5EBD534DE}" type="slidenum">
              <a:rPr lang="en-US" smtClean="0">
                <a:solidFill>
                  <a:prstClr val="black"/>
                </a:solidFill>
                <a:cs typeface="Arial" panose="020B0604020202020204" pitchFamily="34" charset="0"/>
                <a:sym typeface="Arial" panose="020B0604020202020204" pitchFamily="34" charset="0"/>
              </a:rPr>
              <a:pPr algn="r">
                <a:defRPr/>
              </a:pPr>
              <a:t>‹#›</a:t>
            </a:fld>
            <a:endParaRPr lang="en-US">
              <a:solidFill>
                <a:prstClr val="black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086EFA-CA43-2E2B-D3DA-3EE43691F153}"/>
              </a:ext>
            </a:extLst>
          </p:cNvPr>
          <p:cNvCxnSpPr>
            <a:cxnSpLocks/>
          </p:cNvCxnSpPr>
          <p:nvPr userDrawn="1"/>
        </p:nvCxnSpPr>
        <p:spPr>
          <a:xfrm>
            <a:off x="468147" y="9555113"/>
            <a:ext cx="6885896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102EEE-BF3E-479C-0889-3B4415E999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712" y="608225"/>
            <a:ext cx="5487548" cy="450875"/>
          </a:xfrm>
          <a:prstGeom prst="rect">
            <a:avLst/>
          </a:prstGeom>
        </p:spPr>
        <p:txBody>
          <a:bodyPr/>
          <a:lstStyle>
            <a:lvl1pPr>
              <a:lnSpc>
                <a:spcPts val="3600"/>
              </a:lnSpc>
              <a:defRPr sz="3600" b="1">
                <a:solidFill>
                  <a:schemeClr val="accent1"/>
                </a:solidFill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B8F377A-49F2-0509-1C2E-99FC70BB5F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875" y="1158792"/>
            <a:ext cx="5191125" cy="3730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  <a:endParaRPr lang="en-CA"/>
          </a:p>
        </p:txBody>
      </p:sp>
      <p:pic>
        <p:nvPicPr>
          <p:cNvPr id="8" name="Picture 7" descr="A red leaf on a blue background&#10;&#10;AI-generated content may be incorrect.">
            <a:extLst>
              <a:ext uri="{FF2B5EF4-FFF2-40B4-BE49-F238E27FC236}">
                <a16:creationId xmlns:a16="http://schemas.microsoft.com/office/drawing/2014/main" id="{E045B677-CA85-E0AE-5EED-708A09839C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25777" y="389163"/>
            <a:ext cx="525209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57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9A7BAF6-286C-720D-C321-C8120B2D17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859160438"/>
              </p:ext>
            </p:extLst>
          </p:nvPr>
        </p:nvGraphicFramePr>
        <p:xfrm>
          <a:off x="1013" y="2329"/>
          <a:ext cx="1012" cy="2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8" progId="TCLayout.ActiveDocument.1">
                  <p:embed/>
                </p:oleObj>
              </mc:Choice>
              <mc:Fallback>
                <p:oleObj name="think-cell Slide" r:id="rId4" imgW="306" imgH="30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9A7BAF6-286C-720D-C321-C8120B2D17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3" y="2329"/>
                        <a:ext cx="1012" cy="23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56056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3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1" i="0" u="none" strike="noStrike" cap="none">
          <a:solidFill>
            <a:srgbClr val="000000"/>
          </a:solidFill>
          <a:latin typeface="GT Walsheim Bold" pitchFamily="2" charset="77"/>
          <a:ea typeface="GT Walsheim Bold" pitchFamily="2" charset="77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chemeClr val="tx1"/>
          </a:solidFill>
          <a:latin typeface="Rockwell" panose="02060603020205020403" pitchFamily="18" charset="77"/>
          <a:ea typeface="Rockwell" panose="02060603020205020403" pitchFamily="18" charset="77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0072C-9A69-DEB9-BE5A-4B8698ED8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F84484-25A9-06B9-6258-CB9424A76745}"/>
              </a:ext>
            </a:extLst>
          </p:cNvPr>
          <p:cNvSpPr/>
          <p:nvPr/>
        </p:nvSpPr>
        <p:spPr>
          <a:xfrm>
            <a:off x="457199" y="2271675"/>
            <a:ext cx="6857998" cy="1194639"/>
          </a:xfrm>
          <a:prstGeom prst="roundRect">
            <a:avLst>
              <a:gd name="adj" fmla="val 8316"/>
            </a:avLst>
          </a:prstGeom>
          <a:solidFill>
            <a:srgbClr val="EA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200" dirty="0">
                <a:solidFill>
                  <a:schemeClr val="accent1"/>
                </a:solidFill>
                <a:cs typeface="72 Light" panose="020B0303030000000003" pitchFamily="34" charset="0"/>
              </a:rPr>
              <a:t>At Maple Leaf Foods, investigations are conducted with fairness, objectivity, </a:t>
            </a:r>
            <a:br>
              <a:rPr lang="en-US" sz="1200" dirty="0">
                <a:solidFill>
                  <a:schemeClr val="accent1"/>
                </a:solidFill>
                <a:cs typeface="72 Light" panose="020B0303030000000003" pitchFamily="34" charset="0"/>
              </a:rPr>
            </a:br>
            <a:r>
              <a:rPr lang="en-US" sz="1200" dirty="0">
                <a:solidFill>
                  <a:schemeClr val="accent1"/>
                </a:solidFill>
                <a:cs typeface="72 Light" panose="020B0303030000000003" pitchFamily="34" charset="0"/>
              </a:rPr>
              <a:t>and respect, recognizing the seriousness of the issues involved. This framework supports clear, risk-based intake decisions and timely escalation when potential harm, legal exposure, or uncertainty exists. Investigators are expected to exercise sound judgment and to escalate </a:t>
            </a:r>
            <a:br>
              <a:rPr lang="en-US" sz="1200" dirty="0">
                <a:solidFill>
                  <a:schemeClr val="accent1"/>
                </a:solidFill>
                <a:cs typeface="72 Light" panose="020B0303030000000003" pitchFamily="34" charset="0"/>
              </a:rPr>
            </a:br>
            <a:r>
              <a:rPr lang="en-US" sz="1200" dirty="0">
                <a:solidFill>
                  <a:schemeClr val="accent1"/>
                </a:solidFill>
                <a:cs typeface="72 Light" panose="020B0303030000000003" pitchFamily="34" charset="0"/>
              </a:rPr>
              <a:t>early to protect people, the Company, and the integrity of the process.</a:t>
            </a:r>
            <a:endParaRPr lang="en-US" sz="1200" b="1" dirty="0">
              <a:solidFill>
                <a:srgbClr val="3B89FE"/>
              </a:solidFill>
              <a:cs typeface="72 Light" panose="020B03030300000000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10910C4-DEDC-1AEF-770E-1E544E6CD4D5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62991-03A1-BCAE-1EDF-DD936F0120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6712" y="489673"/>
            <a:ext cx="5487548" cy="45087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800" b="0" dirty="0"/>
              <a:t>Enterprise Investigation Procedures</a:t>
            </a:r>
          </a:p>
          <a:p>
            <a:r>
              <a:rPr lang="en-US" dirty="0"/>
              <a:t>Intake and Escalation Decision Framework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A15BED4-0EFD-DCE2-1445-05214C62D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9545" y="9469083"/>
            <a:ext cx="652849" cy="365125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C6576D-367F-4A05-B18B-9AE5EBD534D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AEACCC-2347-4E7A-61A3-DE59FBE23E9C}"/>
              </a:ext>
            </a:extLst>
          </p:cNvPr>
          <p:cNvSpPr txBox="1"/>
          <p:nvPr/>
        </p:nvSpPr>
        <p:spPr>
          <a:xfrm>
            <a:off x="457199" y="3732602"/>
            <a:ext cx="685799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accent1"/>
                </a:solidFill>
                <a:cs typeface="72 Light" panose="020B0303030000000003" pitchFamily="34" charset="0"/>
              </a:rPr>
              <a:t>STEP 1: Intake Completeness Check</a:t>
            </a:r>
          </a:p>
          <a:p>
            <a:pPr lvl="0">
              <a:spcAft>
                <a:spcPts val="600"/>
              </a:spcAft>
              <a:defRPr/>
            </a:pPr>
            <a:r>
              <a:rPr lang="en-US" sz="1200" b="1" dirty="0"/>
              <a:t>Do you have sufficient information to classify the Report?</a:t>
            </a:r>
          </a:p>
          <a:p>
            <a:pPr>
              <a:buNone/>
            </a:pPr>
            <a:r>
              <a:rPr lang="en-US" sz="1200" dirty="0"/>
              <a:t>Minimum information required:</a:t>
            </a:r>
          </a:p>
          <a:p>
            <a:pPr marL="234950" indent="-234950">
              <a:buFont typeface="Arial" panose="020B0604020202020204" pitchFamily="34" charset="0"/>
              <a:buChar char="•"/>
            </a:pPr>
            <a:r>
              <a:rPr lang="en-US" sz="1200" dirty="0"/>
              <a:t>What is alleged to have occurred?</a:t>
            </a:r>
          </a:p>
          <a:p>
            <a:pPr marL="234950" indent="-234950">
              <a:buFont typeface="Arial" panose="020B0604020202020204" pitchFamily="34" charset="0"/>
              <a:buChar char="•"/>
            </a:pPr>
            <a:r>
              <a:rPr lang="en-US" sz="1200" dirty="0"/>
              <a:t>Who is involved?</a:t>
            </a:r>
          </a:p>
          <a:p>
            <a:pPr marL="234950" indent="-234950">
              <a:buFont typeface="Arial" panose="020B0604020202020204" pitchFamily="34" charset="0"/>
              <a:buChar char="•"/>
            </a:pPr>
            <a:r>
              <a:rPr lang="en-US" sz="1200" dirty="0"/>
              <a:t>When and where did it occur?</a:t>
            </a:r>
          </a:p>
          <a:p>
            <a:pPr marL="234950" indent="-234950">
              <a:buFont typeface="Arial" panose="020B0604020202020204" pitchFamily="34" charset="0"/>
              <a:buChar char="•"/>
            </a:pPr>
            <a:r>
              <a:rPr lang="en-US" sz="1200" dirty="0"/>
              <a:t>How was the Report received (e.g., </a:t>
            </a:r>
            <a:r>
              <a:rPr lang="en-US" sz="1200" dirty="0" err="1"/>
              <a:t>EthicsLine</a:t>
            </a:r>
            <a:r>
              <a:rPr lang="en-US" sz="1200" dirty="0"/>
              <a:t> or direct report)?</a:t>
            </a:r>
          </a:p>
          <a:p>
            <a:pPr marL="234950" indent="-234950">
              <a:buFont typeface="Arial" panose="020B0604020202020204" pitchFamily="34" charset="0"/>
              <a:buChar char="•"/>
            </a:pPr>
            <a:r>
              <a:rPr lang="en-US" sz="1200" dirty="0"/>
              <a:t>Is there any immediate safety, product, animal welfare, or environmental concern?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Yes → Proceed to Step 2.</a:t>
            </a:r>
            <a:b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→ Gather additional information before proceeding. 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712AE81-23E9-F079-6BC5-61A8AF184877}"/>
              </a:ext>
            </a:extLst>
          </p:cNvPr>
          <p:cNvSpPr txBox="1">
            <a:spLocks/>
          </p:cNvSpPr>
          <p:nvPr/>
        </p:nvSpPr>
        <p:spPr>
          <a:xfrm>
            <a:off x="396712" y="1752880"/>
            <a:ext cx="5487548" cy="30795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1" i="0" u="none" strike="noStrike" cap="none">
                <a:solidFill>
                  <a:schemeClr val="accent1"/>
                </a:solidFill>
                <a:latin typeface="+mj-lt"/>
                <a:ea typeface="Rockwell" panose="02060603020205020403" pitchFamily="18" charset="77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b="0" kern="0" dirty="0">
                <a:latin typeface="Arial Nova Light" panose="020B0304020202020204" pitchFamily="34" charset="0"/>
              </a:rPr>
              <a:t>A Customized Resource for:  FSQA  |  OHS  |  HR  |  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4C498-85CE-C7F0-1AEF-C6F81D5D96E0}"/>
              </a:ext>
            </a:extLst>
          </p:cNvPr>
          <p:cNvSpPr txBox="1"/>
          <p:nvPr/>
        </p:nvSpPr>
        <p:spPr>
          <a:xfrm>
            <a:off x="457197" y="6068510"/>
            <a:ext cx="6858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accent1"/>
                </a:solidFill>
                <a:cs typeface="72 Light" panose="020B0303030000000003" pitchFamily="34" charset="0"/>
              </a:rPr>
              <a:t>STEP 2: Immediate Escalation Screen</a:t>
            </a:r>
          </a:p>
          <a:p>
            <a:pPr lvl="0">
              <a:spcAft>
                <a:spcPts val="600"/>
              </a:spcAft>
              <a:defRPr/>
            </a:pPr>
            <a:r>
              <a:rPr lang="en-US" sz="1200" b="1" dirty="0"/>
              <a:t>Does the Report involve any of the following? </a:t>
            </a:r>
            <a:r>
              <a:rPr lang="en-US" sz="1200" dirty="0"/>
              <a:t>(</a:t>
            </a:r>
            <a:r>
              <a:rPr lang="en-US" sz="1200" i="1" dirty="0"/>
              <a:t>Answer “Yes” if unsure.)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FD9FEE-F743-492A-AFB4-BEA048986DC7}"/>
              </a:ext>
            </a:extLst>
          </p:cNvPr>
          <p:cNvSpPr txBox="1"/>
          <p:nvPr/>
        </p:nvSpPr>
        <p:spPr>
          <a:xfrm>
            <a:off x="457199" y="8539198"/>
            <a:ext cx="68579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If </a:t>
            </a:r>
            <a:r>
              <a:rPr lang="en-US" sz="1200" b="1" dirty="0"/>
              <a:t>YES</a:t>
            </a:r>
            <a:r>
              <a:rPr lang="en-US" sz="1200" dirty="0"/>
              <a:t> to any item above:</a:t>
            </a:r>
            <a:br>
              <a:rPr lang="en-US" sz="1200" dirty="0"/>
            </a:br>
            <a:r>
              <a:rPr lang="en-US" sz="1200" dirty="0"/>
              <a:t>→ </a:t>
            </a:r>
            <a:r>
              <a:rPr lang="en-US" sz="1200" b="1" dirty="0"/>
              <a:t>CLASSIFY AS LEVEL 1 – SIGNIFICANT INVESTIGATION</a:t>
            </a:r>
            <a:r>
              <a:rPr lang="en-US" sz="1200" dirty="0"/>
              <a:t>, notify Department Leader, Internal Audit (IA) and Legal immediately, and proceed under Significant Investigation procedures.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68599D-9E78-2180-0BFE-3CFFF4FB1224}"/>
              </a:ext>
            </a:extLst>
          </p:cNvPr>
          <p:cNvSpPr txBox="1"/>
          <p:nvPr/>
        </p:nvSpPr>
        <p:spPr>
          <a:xfrm>
            <a:off x="457199" y="6607119"/>
            <a:ext cx="6857998" cy="1888017"/>
          </a:xfrm>
          <a:prstGeom prst="rect">
            <a:avLst/>
          </a:prstGeom>
          <a:noFill/>
        </p:spPr>
        <p:txBody>
          <a:bodyPr wrap="square" numCol="3" spcCol="182880">
            <a:spAutoFit/>
          </a:bodyPr>
          <a:lstStyle/>
          <a:p>
            <a:pPr marL="234950" indent="-234950">
              <a:buFont typeface="Wingdings" panose="05000000000000000000" pitchFamily="2" charset="2"/>
              <a:buChar char="q"/>
            </a:pPr>
            <a:r>
              <a:rPr lang="en-US" sz="1200" dirty="0"/>
              <a:t>Immediate risk to:</a:t>
            </a:r>
          </a:p>
          <a:p>
            <a:pPr marL="517525" lvl="1" indent="-234950">
              <a:buFont typeface="Arial" panose="020B0604020202020204" pitchFamily="34" charset="0"/>
              <a:buChar char="•"/>
            </a:pPr>
            <a:r>
              <a:rPr lang="en-US" sz="1200" dirty="0"/>
              <a:t>Team member health or safety</a:t>
            </a:r>
          </a:p>
          <a:p>
            <a:pPr marL="517525" lvl="1" indent="-234950">
              <a:buFont typeface="Arial" panose="020B0604020202020204" pitchFamily="34" charset="0"/>
              <a:buChar char="•"/>
            </a:pPr>
            <a:r>
              <a:rPr lang="en-US" sz="1200" dirty="0"/>
              <a:t>Consumer safety</a:t>
            </a:r>
          </a:p>
          <a:p>
            <a:pPr marL="517525" lvl="1" indent="-234950">
              <a:buFont typeface="Arial" panose="020B0604020202020204" pitchFamily="34" charset="0"/>
              <a:buChar char="•"/>
            </a:pPr>
            <a:r>
              <a:rPr lang="en-US" sz="1200" dirty="0"/>
              <a:t>Animal welfare</a:t>
            </a:r>
          </a:p>
          <a:p>
            <a:pPr marL="517525" lvl="1" indent="-2349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The environment</a:t>
            </a:r>
          </a:p>
          <a:p>
            <a:pPr marL="234950" indent="-2349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 dirty="0"/>
              <a:t>Potential criminal activity or fraud</a:t>
            </a:r>
          </a:p>
          <a:p>
            <a:pPr marL="234950" indent="-234950">
              <a:spcAft>
                <a:spcPts val="300"/>
              </a:spcAft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234950" indent="-2349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 dirty="0"/>
              <a:t>Regulatory exposure or mandatory reporting obligations</a:t>
            </a:r>
          </a:p>
          <a:p>
            <a:pPr marL="234950" indent="-2349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 dirty="0"/>
              <a:t>Senior leadership or management involvement</a:t>
            </a:r>
          </a:p>
          <a:p>
            <a:pPr marL="234950" indent="-2349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 dirty="0"/>
              <a:t>Likely litigation, external investigation, or media attention</a:t>
            </a:r>
          </a:p>
          <a:p>
            <a:pPr marL="234950" indent="-234950">
              <a:spcAft>
                <a:spcPts val="300"/>
              </a:spcAft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234950" indent="-2349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 dirty="0" err="1"/>
              <a:t>EthicsLine</a:t>
            </a:r>
            <a:r>
              <a:rPr lang="en-US" sz="1200" dirty="0"/>
              <a:t> Report that appears serious or sensitive</a:t>
            </a:r>
          </a:p>
          <a:p>
            <a:pPr marL="234950" indent="-2349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 dirty="0"/>
              <a:t>Any matter requiring legal privilege or document preservation</a:t>
            </a:r>
          </a:p>
        </p:txBody>
      </p:sp>
    </p:spTree>
    <p:extLst>
      <p:ext uri="{BB962C8B-B14F-4D97-AF65-F5344CB8AC3E}">
        <p14:creationId xmlns:p14="http://schemas.microsoft.com/office/powerpoint/2010/main" val="1003635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235BA-A3E7-8C23-4CF6-3E0B17428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CF2B7D-E5E5-97A6-E640-47B1D5AFA7C8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4F4BD01-4ECC-0B3D-BAA7-A8E1A38DF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9545" y="9469083"/>
            <a:ext cx="652849" cy="365125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C6576D-367F-4A05-B18B-9AE5EBD534D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CC5306D-53DF-0289-315C-1EDE295BD4EB}"/>
              </a:ext>
            </a:extLst>
          </p:cNvPr>
          <p:cNvGrpSpPr/>
          <p:nvPr/>
        </p:nvGrpSpPr>
        <p:grpSpPr>
          <a:xfrm>
            <a:off x="456046" y="2271675"/>
            <a:ext cx="6859153" cy="6037948"/>
            <a:chOff x="456046" y="2636095"/>
            <a:chExt cx="6859153" cy="603794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9C0CA97-54BB-2BC9-EA64-295876B491FE}"/>
                </a:ext>
              </a:extLst>
            </p:cNvPr>
            <p:cNvSpPr/>
            <p:nvPr/>
          </p:nvSpPr>
          <p:spPr>
            <a:xfrm>
              <a:off x="617047" y="5223144"/>
              <a:ext cx="1920240" cy="2019784"/>
            </a:xfrm>
            <a:prstGeom prst="roundRect">
              <a:avLst>
                <a:gd name="adj" fmla="val 756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ova Light" panose="020B0304020202020204" pitchFamily="34" charset="0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 Nova Light" panose="020B0304020202020204" pitchFamily="34" charset="0"/>
                </a:rPr>
                <a:t>Impact Examples</a:t>
              </a:r>
            </a:p>
            <a:p>
              <a:pPr marL="234950" marR="0" lvl="0" indent="-234950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CA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 Nova Light" panose="020B0304020202020204" pitchFamily="34" charset="0"/>
                </a:rPr>
                <a:t>[Insert function-specific examples here.]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41362956-BA5B-402F-FACB-9A1BAE359221}"/>
                </a:ext>
              </a:extLst>
            </p:cNvPr>
            <p:cNvSpPr/>
            <p:nvPr/>
          </p:nvSpPr>
          <p:spPr>
            <a:xfrm>
              <a:off x="2937423" y="5223144"/>
              <a:ext cx="1920240" cy="2019784"/>
            </a:xfrm>
            <a:prstGeom prst="roundRect">
              <a:avLst>
                <a:gd name="adj" fmla="val 756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ova Light" panose="020B0304020202020204" pitchFamily="34" charset="0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 Nova Light" panose="020B0304020202020204" pitchFamily="34" charset="0"/>
                </a:rPr>
                <a:t>Impact Examples</a:t>
              </a:r>
            </a:p>
            <a:p>
              <a:pPr marL="234950" marR="0" lvl="0" indent="-234950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CA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 Nova Light" panose="020B0304020202020204" pitchFamily="34" charset="0"/>
                </a:rPr>
                <a:t>[Insert function-specific examples here.]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3177E69A-4C8A-87A9-CCEF-F774CFD0176F}"/>
                </a:ext>
              </a:extLst>
            </p:cNvPr>
            <p:cNvSpPr/>
            <p:nvPr/>
          </p:nvSpPr>
          <p:spPr>
            <a:xfrm>
              <a:off x="5257799" y="5223144"/>
              <a:ext cx="1920240" cy="2019784"/>
            </a:xfrm>
            <a:prstGeom prst="roundRect">
              <a:avLst>
                <a:gd name="adj" fmla="val 756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ova Light" panose="020B0304020202020204" pitchFamily="34" charset="0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 Nova Light" panose="020B0304020202020204" pitchFamily="34" charset="0"/>
                </a:rPr>
                <a:t>Impact Examples</a:t>
              </a:r>
            </a:p>
            <a:p>
              <a:pPr marL="234950" marR="0" lvl="0" indent="-234950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CA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 Nova Light" panose="020B0304020202020204" pitchFamily="34" charset="0"/>
                </a:rPr>
                <a:t>[Insert function-specific examples here.]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B0E7C9B-A620-B9DA-C6A6-19D319A47384}"/>
                </a:ext>
              </a:extLst>
            </p:cNvPr>
            <p:cNvSpPr txBox="1"/>
            <p:nvPr/>
          </p:nvSpPr>
          <p:spPr>
            <a:xfrm>
              <a:off x="457201" y="2636095"/>
              <a:ext cx="685799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spcAft>
                  <a:spcPts val="600"/>
                </a:spcAft>
                <a:defRPr/>
              </a:pPr>
              <a:r>
                <a:rPr lang="en-US" sz="1200" b="1" dirty="0">
                  <a:solidFill>
                    <a:schemeClr val="accent1"/>
                  </a:solidFill>
                  <a:cs typeface="72 Light" panose="020B0303030000000003" pitchFamily="34" charset="0"/>
                </a:rPr>
                <a:t>STEP 3: Impact and Severity Assessment</a:t>
              </a:r>
            </a:p>
            <a:p>
              <a:pPr lvl="0">
                <a:spcAft>
                  <a:spcPts val="600"/>
                </a:spcAft>
                <a:defRPr/>
              </a:pPr>
              <a:r>
                <a:rPr lang="en-US" sz="1200" b="1" dirty="0"/>
                <a:t>If the allegation is substantiated, what is the </a:t>
              </a:r>
              <a:r>
                <a:rPr lang="en-US" sz="1200" b="1" u="sng" dirty="0"/>
                <a:t>likely</a:t>
              </a:r>
              <a:r>
                <a:rPr lang="en-US" sz="1200" b="1" dirty="0"/>
                <a:t> impact?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192AA06-CFFE-30D5-D84E-D4729DD2280B}"/>
                </a:ext>
              </a:extLst>
            </p:cNvPr>
            <p:cNvSpPr/>
            <p:nvPr/>
          </p:nvSpPr>
          <p:spPr>
            <a:xfrm>
              <a:off x="456046" y="3792029"/>
              <a:ext cx="2194560" cy="1478023"/>
            </a:xfrm>
            <a:prstGeom prst="roundRect">
              <a:avLst>
                <a:gd name="adj" fmla="val 7566"/>
              </a:avLst>
            </a:prstGeom>
            <a:solidFill>
              <a:schemeClr val="bg1"/>
            </a:solidFill>
            <a:ln w="19050">
              <a:solidFill>
                <a:srgbClr val="00255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34950" lvl="0" indent="-234950"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chemeClr val="tx1"/>
                  </a:solidFill>
                </a:rPr>
                <a:t>Serious harm or risk</a:t>
              </a:r>
            </a:p>
            <a:p>
              <a:pPr marL="234950" lvl="0" indent="-234950"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chemeClr val="tx1"/>
                  </a:solidFill>
                </a:rPr>
                <a:t>Material financial loss</a:t>
              </a:r>
            </a:p>
            <a:p>
              <a:pPr marL="234950" lvl="0" indent="-234950"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chemeClr val="tx1"/>
                  </a:solidFill>
                </a:rPr>
                <a:t>Potential for serious legal, regulatory, or reputational consequences</a:t>
              </a:r>
              <a:endPara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D78B4D1-A0A1-AF99-2B47-CCDBE88FBA90}"/>
                </a:ext>
              </a:extLst>
            </p:cNvPr>
            <p:cNvSpPr/>
            <p:nvPr/>
          </p:nvSpPr>
          <p:spPr>
            <a:xfrm>
              <a:off x="2794394" y="3792029"/>
              <a:ext cx="2194560" cy="1478023"/>
            </a:xfrm>
            <a:prstGeom prst="roundRect">
              <a:avLst>
                <a:gd name="adj" fmla="val 7566"/>
              </a:avLst>
            </a:prstGeom>
            <a:solidFill>
              <a:schemeClr val="bg1"/>
            </a:solidFill>
            <a:ln w="19050">
              <a:solidFill>
                <a:srgbClr val="00255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34950" indent="-2349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1"/>
                  </a:solidFill>
                </a:rPr>
                <a:t>Localized or contained issue</a:t>
              </a:r>
            </a:p>
            <a:p>
              <a:pPr marL="234950" indent="-2349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1"/>
                  </a:solidFill>
                </a:rPr>
                <a:t>Disciplinary action short of termination</a:t>
              </a:r>
            </a:p>
            <a:p>
              <a:pPr marL="234950" indent="-2349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1"/>
                  </a:solidFill>
                </a:rPr>
                <a:t>Repeated </a:t>
              </a:r>
              <a:r>
                <a:rPr lang="en-US" sz="1200" dirty="0" err="1">
                  <a:solidFill>
                    <a:schemeClr val="tx1"/>
                  </a:solidFill>
                </a:rPr>
                <a:t>behaviour</a:t>
              </a:r>
              <a:r>
                <a:rPr lang="en-US" sz="1200" dirty="0">
                  <a:solidFill>
                    <a:schemeClr val="tx1"/>
                  </a:solidFill>
                </a:rPr>
                <a:t> or emerging pattern</a:t>
              </a:r>
              <a:endParaRPr lang="en-CA" sz="12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E6D4331-9D3B-08C6-7C66-4E42D45516FB}"/>
                </a:ext>
              </a:extLst>
            </p:cNvPr>
            <p:cNvSpPr/>
            <p:nvPr/>
          </p:nvSpPr>
          <p:spPr>
            <a:xfrm>
              <a:off x="5120639" y="3792029"/>
              <a:ext cx="2194560" cy="1478023"/>
            </a:xfrm>
            <a:prstGeom prst="roundRect">
              <a:avLst>
                <a:gd name="adj" fmla="val 7566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34950" lvl="0" indent="-234950"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chemeClr val="tx1"/>
                  </a:solidFill>
                </a:rPr>
                <a:t>Isolated, minor, or easily correctable</a:t>
              </a:r>
            </a:p>
            <a:p>
              <a:pPr marL="234950" lvl="0" indent="-234950"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chemeClr val="tx1"/>
                  </a:solidFill>
                </a:rPr>
                <a:t>No expected disciplinary, safety, or operational impact</a:t>
              </a:r>
              <a:endParaRPr lang="en-CA" sz="1200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0692074-80EE-E76B-FE7C-A747DFAF92DC}"/>
                </a:ext>
              </a:extLst>
            </p:cNvPr>
            <p:cNvSpPr/>
            <p:nvPr/>
          </p:nvSpPr>
          <p:spPr>
            <a:xfrm>
              <a:off x="457262" y="3332470"/>
              <a:ext cx="2194560" cy="365125"/>
            </a:xfrm>
            <a:prstGeom prst="roundRect">
              <a:avLst>
                <a:gd name="adj" fmla="val 20235"/>
              </a:avLst>
            </a:prstGeom>
            <a:solidFill>
              <a:srgbClr val="00255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CA" sz="1200" b="1" dirty="0">
                  <a:solidFill>
                    <a:prstClr val="white"/>
                  </a:solidFill>
                  <a:latin typeface="Arial" panose="020B0604020202020204"/>
                </a:rPr>
                <a:t>High Impact</a:t>
              </a:r>
              <a:endParaRPr kumimoji="0" lang="en-CA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9D8AD26C-1052-CDE2-B2D1-4B784529C565}"/>
                </a:ext>
              </a:extLst>
            </p:cNvPr>
            <p:cNvSpPr/>
            <p:nvPr/>
          </p:nvSpPr>
          <p:spPr>
            <a:xfrm>
              <a:off x="2794394" y="3332470"/>
              <a:ext cx="2194560" cy="365125"/>
            </a:xfrm>
            <a:prstGeom prst="roundRect">
              <a:avLst>
                <a:gd name="adj" fmla="val 16928"/>
              </a:avLst>
            </a:prstGeom>
            <a:solidFill>
              <a:srgbClr val="0538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Medium Impact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D1729982-31FB-50B4-EF84-5AD4E26A93E9}"/>
                </a:ext>
              </a:extLst>
            </p:cNvPr>
            <p:cNvSpPr/>
            <p:nvPr/>
          </p:nvSpPr>
          <p:spPr>
            <a:xfrm>
              <a:off x="5120639" y="3332470"/>
              <a:ext cx="2194560" cy="365125"/>
            </a:xfrm>
            <a:prstGeom prst="roundRect">
              <a:avLst>
                <a:gd name="adj" fmla="val 13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Low Impact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58E4946A-1CDA-9BF1-F003-6535EC2849E8}"/>
                </a:ext>
              </a:extLst>
            </p:cNvPr>
            <p:cNvSpPr/>
            <p:nvPr/>
          </p:nvSpPr>
          <p:spPr>
            <a:xfrm>
              <a:off x="456046" y="7501327"/>
              <a:ext cx="2194560" cy="1172716"/>
            </a:xfrm>
            <a:prstGeom prst="roundRect">
              <a:avLst>
                <a:gd name="adj" fmla="val 7566"/>
              </a:avLst>
            </a:prstGeom>
            <a:solidFill>
              <a:srgbClr val="EAF2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LEVEL 1 – SIGNIFICANT INVESTIGATION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Notify Department Leader, IA, and Legal</a:t>
              </a:r>
              <a:endPara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589C4380-D938-F234-4BAF-DDBE824249B8}"/>
                </a:ext>
              </a:extLst>
            </p:cNvPr>
            <p:cNvSpPr/>
            <p:nvPr/>
          </p:nvSpPr>
          <p:spPr>
            <a:xfrm>
              <a:off x="2794394" y="7501327"/>
              <a:ext cx="2194560" cy="1172716"/>
            </a:xfrm>
            <a:prstGeom prst="roundRect">
              <a:avLst>
                <a:gd name="adj" fmla="val 7566"/>
              </a:avLst>
            </a:prstGeom>
            <a:solidFill>
              <a:srgbClr val="EAF2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schemeClr val="tx1"/>
                  </a:solidFill>
                  <a:latin typeface="+mj-lt"/>
                </a:rPr>
                <a:t>Proceed to Step 4</a:t>
              </a:r>
              <a:endPara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46C844EE-8D3F-196F-F3C3-09D45264FF27}"/>
                </a:ext>
              </a:extLst>
            </p:cNvPr>
            <p:cNvSpPr/>
            <p:nvPr/>
          </p:nvSpPr>
          <p:spPr>
            <a:xfrm>
              <a:off x="5120639" y="7501327"/>
              <a:ext cx="2194560" cy="1172716"/>
            </a:xfrm>
            <a:prstGeom prst="roundRect">
              <a:avLst>
                <a:gd name="adj" fmla="val 7566"/>
              </a:avLst>
            </a:prstGeom>
            <a:solidFill>
              <a:srgbClr val="EAF2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Ins="91440" rtlCol="0" anchor="ctr"/>
            <a:lstStyle/>
            <a:p>
              <a:pPr algn="ctr">
                <a:defRPr/>
              </a:pPr>
              <a:r>
                <a:rPr lang="en-CA" sz="1200" dirty="0">
                  <a:solidFill>
                    <a:schemeClr val="tx1"/>
                  </a:solidFill>
                  <a:latin typeface="+mj-lt"/>
                </a:rPr>
                <a:t>Proceed to Step 4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2D9A8E0-1535-4892-1C16-85D6EFDBDE72}"/>
                </a:ext>
              </a:extLst>
            </p:cNvPr>
            <p:cNvGrpSpPr/>
            <p:nvPr/>
          </p:nvGrpSpPr>
          <p:grpSpPr>
            <a:xfrm>
              <a:off x="1501368" y="7313018"/>
              <a:ext cx="4769669" cy="126193"/>
              <a:chOff x="1498677" y="4903007"/>
              <a:chExt cx="4769669" cy="160744"/>
            </a:xfrm>
          </p:grpSpPr>
          <p:pic>
            <p:nvPicPr>
              <p:cNvPr id="48" name="Graphic 47">
                <a:extLst>
                  <a:ext uri="{FF2B5EF4-FFF2-40B4-BE49-F238E27FC236}">
                    <a16:creationId xmlns:a16="http://schemas.microsoft.com/office/drawing/2014/main" id="{C49FB398-0AB8-2E14-3B63-D4A9EF5773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1504753" y="4896931"/>
                <a:ext cx="144824" cy="156975"/>
              </a:xfrm>
              <a:prstGeom prst="rect">
                <a:avLst/>
              </a:prstGeom>
            </p:spPr>
          </p:pic>
          <p:pic>
            <p:nvPicPr>
              <p:cNvPr id="49" name="Graphic 48">
                <a:extLst>
                  <a:ext uri="{FF2B5EF4-FFF2-40B4-BE49-F238E27FC236}">
                    <a16:creationId xmlns:a16="http://schemas.microsoft.com/office/drawing/2014/main" id="{AF90F57A-4CB9-0A68-D50E-354ED7F47A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3780125" y="4903872"/>
                <a:ext cx="144824" cy="156975"/>
              </a:xfrm>
              <a:prstGeom prst="rect">
                <a:avLst/>
              </a:prstGeom>
            </p:spPr>
          </p:pic>
          <p:pic>
            <p:nvPicPr>
              <p:cNvPr id="50" name="Graphic 49">
                <a:extLst>
                  <a:ext uri="{FF2B5EF4-FFF2-40B4-BE49-F238E27FC236}">
                    <a16:creationId xmlns:a16="http://schemas.microsoft.com/office/drawing/2014/main" id="{EECCBCC2-C3E1-7E95-C14B-DB6073645A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6117447" y="4912851"/>
                <a:ext cx="144824" cy="156975"/>
              </a:xfrm>
              <a:prstGeom prst="rect">
                <a:avLst/>
              </a:prstGeom>
            </p:spPr>
          </p:pic>
        </p:grpSp>
      </p:grp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CF50C803-E056-DC84-BFF2-FFAEE536A0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6712" y="489673"/>
            <a:ext cx="5487548" cy="45087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800" b="0" dirty="0"/>
              <a:t>Enterprise Investigation Procedures</a:t>
            </a:r>
          </a:p>
          <a:p>
            <a:r>
              <a:rPr lang="en-US" dirty="0"/>
              <a:t>Intake and Escalation Decision Framework</a:t>
            </a:r>
            <a:endParaRPr lang="en-US" b="0" dirty="0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3D104257-C243-E57C-B0CF-5E9681C36C0F}"/>
              </a:ext>
            </a:extLst>
          </p:cNvPr>
          <p:cNvSpPr txBox="1">
            <a:spLocks/>
          </p:cNvSpPr>
          <p:nvPr/>
        </p:nvSpPr>
        <p:spPr>
          <a:xfrm>
            <a:off x="396712" y="1752880"/>
            <a:ext cx="5487548" cy="30795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1" i="0" u="none" strike="noStrike" cap="none">
                <a:solidFill>
                  <a:schemeClr val="accent1"/>
                </a:solidFill>
                <a:latin typeface="+mj-lt"/>
                <a:ea typeface="Rockwell" panose="02060603020205020403" pitchFamily="18" charset="77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b="0" kern="0" dirty="0">
                <a:latin typeface="Arial Nova Light" panose="020B0304020202020204" pitchFamily="34" charset="0"/>
              </a:rPr>
              <a:t>A Customized Resource for:  FSQA  |  OHS  |  HR  |  IS</a:t>
            </a:r>
          </a:p>
        </p:txBody>
      </p:sp>
    </p:spTree>
    <p:extLst>
      <p:ext uri="{BB962C8B-B14F-4D97-AF65-F5344CB8AC3E}">
        <p14:creationId xmlns:p14="http://schemas.microsoft.com/office/powerpoint/2010/main" val="2704346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71A2D-A472-47B8-54FD-5812CD58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A54B63-C67D-3734-B72E-92FFCCCB5F9B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C9F9FFC-BFA2-2105-5C97-AE4E6D9C8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9545" y="9469083"/>
            <a:ext cx="652849" cy="365125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C6576D-367F-4A05-B18B-9AE5EBD534D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73F9EE-1F2D-4C40-53DD-11F4A0B9E4C4}"/>
              </a:ext>
            </a:extLst>
          </p:cNvPr>
          <p:cNvSpPr txBox="1"/>
          <p:nvPr/>
        </p:nvSpPr>
        <p:spPr>
          <a:xfrm>
            <a:off x="457199" y="2272865"/>
            <a:ext cx="4510217" cy="3177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accent1"/>
                </a:solidFill>
                <a:cs typeface="72 Light" panose="020B0303030000000003" pitchFamily="34" charset="0"/>
              </a:rPr>
              <a:t>STEP 4: Formal Investigation Determination</a:t>
            </a:r>
          </a:p>
          <a:p>
            <a:pPr lvl="0">
              <a:spcAft>
                <a:spcPts val="600"/>
              </a:spcAft>
              <a:defRPr/>
            </a:pPr>
            <a:r>
              <a:rPr lang="en-US" sz="1200" b="1" dirty="0"/>
              <a:t>Does the Level classification require a formal investigation?</a:t>
            </a:r>
          </a:p>
          <a:p>
            <a:pPr>
              <a:spcAft>
                <a:spcPts val="300"/>
              </a:spcAft>
              <a:defRPr/>
            </a:pPr>
            <a:r>
              <a:rPr lang="en-US" sz="1200" dirty="0">
                <a:solidFill>
                  <a:prstClr val="black"/>
                </a:solidFill>
              </a:rPr>
              <a:t>Level 1 or 2: Yes </a:t>
            </a:r>
          </a:p>
          <a:p>
            <a:pPr marL="234950">
              <a:spcAft>
                <a:spcPts val="300"/>
              </a:spcAft>
              <a:defRPr/>
            </a:pPr>
            <a:r>
              <a:rPr lang="en-US" sz="1200" dirty="0">
                <a:solidFill>
                  <a:prstClr val="black"/>
                </a:solidFill>
              </a:rPr>
              <a:t>→ Level 1: notify Department Leader, IA, and Legal immediately. </a:t>
            </a:r>
          </a:p>
          <a:p>
            <a:pPr marL="234950">
              <a:spcAft>
                <a:spcPts val="300"/>
              </a:spcAft>
              <a:defRPr/>
            </a:pPr>
            <a:r>
              <a:rPr lang="en-US" sz="1200" dirty="0">
                <a:solidFill>
                  <a:prstClr val="black"/>
                </a:solidFill>
              </a:rPr>
              <a:t>→ Level 2: function-led; escalate if risk increases. 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/>
            </a:pPr>
            <a:r>
              <a:rPr lang="en-US" sz="1200" dirty="0">
                <a:solidFill>
                  <a:prstClr val="black"/>
                </a:solidFill>
              </a:rPr>
              <a:t>Level 3: No </a:t>
            </a:r>
          </a:p>
          <a:p>
            <a:pPr marL="234950">
              <a:spcAft>
                <a:spcPts val="300"/>
              </a:spcAft>
              <a:defRPr/>
            </a:pPr>
            <a:r>
              <a:rPr lang="en-US" sz="1200" dirty="0">
                <a:solidFill>
                  <a:prstClr val="black"/>
                </a:solidFill>
              </a:rPr>
              <a:t>→ Informal resolution (coaching/training/mediation)</a:t>
            </a:r>
          </a:p>
          <a:p>
            <a:pPr marL="234950">
              <a:spcAft>
                <a:spcPts val="300"/>
              </a:spcAft>
              <a:defRPr/>
            </a:pPr>
            <a:r>
              <a:rPr lang="en-US" sz="1200" dirty="0">
                <a:solidFill>
                  <a:prstClr val="black"/>
                </a:solidFill>
              </a:rPr>
              <a:t>→ Documentation and tracking still required</a:t>
            </a:r>
            <a:endParaRPr lang="en-US" sz="1200" b="1" dirty="0">
              <a:solidFill>
                <a:prstClr val="black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200" dirty="0">
                <a:solidFill>
                  <a:prstClr val="black"/>
                </a:solidFill>
              </a:rPr>
              <a:t>Note: Documentation is required for all investigation levels and must be maintained in secure, access-controlled repositories. [Functions to define access controls, repository ownership, and storage locations.]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982E022-4998-9D94-7169-188430891EB5}"/>
              </a:ext>
            </a:extLst>
          </p:cNvPr>
          <p:cNvSpPr/>
          <p:nvPr/>
        </p:nvSpPr>
        <p:spPr>
          <a:xfrm>
            <a:off x="5103345" y="2334460"/>
            <a:ext cx="2211856" cy="5936154"/>
          </a:xfrm>
          <a:prstGeom prst="roundRect">
            <a:avLst>
              <a:gd name="adj" fmla="val 7566"/>
            </a:avLst>
          </a:prstGeom>
          <a:solidFill>
            <a:srgbClr val="EA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>
              <a:defRPr/>
            </a:pPr>
            <a:r>
              <a:rPr lang="en-CA" sz="1200" dirty="0">
                <a:solidFill>
                  <a:schemeClr val="accent1"/>
                </a:solidFill>
                <a:latin typeface="Arial Nova Light" panose="020B0304020202020204" pitchFamily="34" charset="0"/>
              </a:rPr>
              <a:t>INVESTIGATION LEVELS</a:t>
            </a:r>
          </a:p>
          <a:p>
            <a:pPr>
              <a:defRPr/>
            </a:pPr>
            <a:endParaRPr lang="en-CA" sz="1200" dirty="0">
              <a:solidFill>
                <a:schemeClr val="tx1"/>
              </a:solidFill>
              <a:latin typeface="Arial Nova Light" panose="020B0304020202020204" pitchFamily="34" charset="0"/>
            </a:endParaRPr>
          </a:p>
          <a:p>
            <a:pPr>
              <a:defRPr/>
            </a:pPr>
            <a:r>
              <a:rPr lang="en-US" sz="1200" dirty="0">
                <a:solidFill>
                  <a:schemeClr val="accent1"/>
                </a:solidFill>
                <a:latin typeface="Arial Nova Light" panose="020B0304020202020204" pitchFamily="34" charset="0"/>
              </a:rPr>
              <a:t>Level 1 – Significant Investigation</a:t>
            </a:r>
            <a:br>
              <a:rPr lang="en-US" sz="1200" dirty="0">
                <a:solidFill>
                  <a:schemeClr val="tx1"/>
                </a:solidFill>
                <a:latin typeface="Arial Nova Light" panose="020B0304020202020204" pitchFamily="34" charset="0"/>
              </a:rPr>
            </a:br>
            <a:r>
              <a:rPr lang="en-US" sz="1200" dirty="0">
                <a:solidFill>
                  <a:schemeClr val="tx1"/>
                </a:solidFill>
                <a:latin typeface="Arial Nova Light" panose="020B0304020202020204" pitchFamily="34" charset="0"/>
              </a:rPr>
              <a:t>Reports that may result in serious harm, legal or regulatory consequences, significant reputational risk. These matters require prompt escalation and involvement of Internal Audit and Legal.</a:t>
            </a:r>
          </a:p>
          <a:p>
            <a:pPr>
              <a:defRPr/>
            </a:pPr>
            <a:endParaRPr lang="en-US" sz="1200" dirty="0">
              <a:solidFill>
                <a:schemeClr val="tx1"/>
              </a:solidFill>
              <a:latin typeface="Arial Nova Light" panose="020B0304020202020204" pitchFamily="34" charset="0"/>
            </a:endParaRPr>
          </a:p>
          <a:p>
            <a:pPr>
              <a:defRPr/>
            </a:pPr>
            <a:r>
              <a:rPr lang="en-US" sz="1200" dirty="0">
                <a:solidFill>
                  <a:schemeClr val="accent1"/>
                </a:solidFill>
                <a:latin typeface="Arial Nova Light" panose="020B0304020202020204" pitchFamily="34" charset="0"/>
              </a:rPr>
              <a:t>Level 2 – Minor Investigation</a:t>
            </a:r>
          </a:p>
          <a:p>
            <a:pPr>
              <a:defRPr/>
            </a:pPr>
            <a:r>
              <a:rPr lang="en-US" sz="1200" dirty="0">
                <a:solidFill>
                  <a:schemeClr val="tx1"/>
                </a:solidFill>
                <a:latin typeface="Arial Nova Light" panose="020B0304020202020204" pitchFamily="34" charset="0"/>
              </a:rPr>
              <a:t>Reports that require formal fact-finding and documentation but present limited legal, financial, or reputational risk. If substantiated, these matters may result in disciplinary or corrective action.</a:t>
            </a:r>
          </a:p>
          <a:p>
            <a:pPr>
              <a:defRPr/>
            </a:pPr>
            <a:endParaRPr lang="en-US" sz="1200" dirty="0">
              <a:solidFill>
                <a:schemeClr val="tx1"/>
              </a:solidFill>
              <a:latin typeface="Arial Nova Light" panose="020B0304020202020204" pitchFamily="34" charset="0"/>
            </a:endParaRPr>
          </a:p>
          <a:p>
            <a:pPr>
              <a:defRPr/>
            </a:pPr>
            <a:r>
              <a:rPr lang="en-US" sz="1200" dirty="0">
                <a:solidFill>
                  <a:schemeClr val="accent1"/>
                </a:solidFill>
                <a:latin typeface="Arial Nova Light" panose="020B0304020202020204" pitchFamily="34" charset="0"/>
              </a:rPr>
              <a:t>Level 3 – No Formal Investigation</a:t>
            </a:r>
          </a:p>
          <a:p>
            <a:pPr>
              <a:defRPr/>
            </a:pPr>
            <a:r>
              <a:rPr lang="en-US" sz="1200" dirty="0">
                <a:solidFill>
                  <a:schemeClr val="tx1"/>
                </a:solidFill>
                <a:latin typeface="Arial Nova Light" panose="020B0304020202020204" pitchFamily="34" charset="0"/>
              </a:rPr>
              <a:t>Low-risk or isolated matters that can be addressed through informal resolution, coaching, or training, with appropriate documentation and monitoring.</a:t>
            </a:r>
            <a:endParaRPr lang="en-CA" sz="1200" dirty="0">
              <a:solidFill>
                <a:schemeClr val="tx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EF77B-A4B1-3653-4A5E-E6F11E825022}"/>
              </a:ext>
            </a:extLst>
          </p:cNvPr>
          <p:cNvSpPr txBox="1"/>
          <p:nvPr/>
        </p:nvSpPr>
        <p:spPr>
          <a:xfrm>
            <a:off x="457198" y="5627466"/>
            <a:ext cx="4510217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accent1"/>
                </a:solidFill>
                <a:cs typeface="72 Light" panose="020B0303030000000003" pitchFamily="34" charset="0"/>
              </a:rPr>
              <a:t>STEP 5: [Function-specific] Next Steps</a:t>
            </a:r>
          </a:p>
          <a:p>
            <a:pPr lvl="0">
              <a:spcAft>
                <a:spcPts val="600"/>
              </a:spcAft>
              <a:defRPr/>
            </a:pPr>
            <a:r>
              <a:rPr lang="en-US" sz="1200" dirty="0"/>
              <a:t>Before documentation begins, assign a standardized alphanumeric investigation ID in accordance with function-defined conventions. File and folder names must not include personal names, job titles, or investigation types. </a:t>
            </a:r>
          </a:p>
          <a:p>
            <a:pPr lvl="0">
              <a:spcAft>
                <a:spcPts val="600"/>
              </a:spcAft>
              <a:defRPr/>
            </a:pPr>
            <a:r>
              <a:rPr lang="en-US" sz="1200" dirty="0"/>
              <a:t>[Functions must define and document their investigation ID structure (e.g., FSQA-001-2026-ON), system handoffs, and tracking requirements and add it here. Guidance must not alter enterprise classification or escalation requirements.]</a:t>
            </a:r>
            <a:br>
              <a:rPr lang="en-US" sz="1200" dirty="0"/>
            </a:br>
            <a:endParaRPr lang="en-US" sz="1200" dirty="0"/>
          </a:p>
          <a:p>
            <a:pPr lvl="0">
              <a:spcAft>
                <a:spcPts val="300"/>
              </a:spcAft>
              <a:defRPr/>
            </a:pPr>
            <a:r>
              <a:rPr lang="en-US" sz="1200" b="1" dirty="0">
                <a:solidFill>
                  <a:schemeClr val="accent1"/>
                </a:solidFill>
                <a:cs typeface="72 Light" panose="020B0303030000000003" pitchFamily="34" charset="0"/>
              </a:rPr>
              <a:t>KEY REMINDERS</a:t>
            </a:r>
          </a:p>
          <a:p>
            <a:pPr marL="234950" lvl="0" indent="-2349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Investigations should be completed within a reasonable timeframe (generally 2–3 weeks for </a:t>
            </a:r>
            <a:r>
              <a:rPr lang="en-US" sz="1200" dirty="0" err="1"/>
              <a:t>EthicsLine</a:t>
            </a:r>
            <a:r>
              <a:rPr lang="en-US" sz="1200" dirty="0"/>
              <a:t> and Significant investigations). Notify IA if delays occur. </a:t>
            </a:r>
          </a:p>
          <a:p>
            <a:pPr marL="234950" lvl="0" indent="-2349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Reassess if new facts emerge. </a:t>
            </a:r>
          </a:p>
          <a:p>
            <a:pPr marL="234950" lvl="0" indent="-2349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Escalate when uncertain. </a:t>
            </a:r>
          </a:p>
          <a:p>
            <a:pPr marL="234950" lvl="0" indent="-234950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Function-specific procedures apply after classification.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78573CA-3913-C90C-88D0-2FDBB934CA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6712" y="489673"/>
            <a:ext cx="5487548" cy="45087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800" b="0" dirty="0"/>
              <a:t>Enterprise Investigation Procedures</a:t>
            </a:r>
          </a:p>
          <a:p>
            <a:r>
              <a:rPr lang="en-US" dirty="0"/>
              <a:t>Intake and Escalation Decision Framework</a:t>
            </a:r>
            <a:endParaRPr lang="en-US" b="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AD5AE61-A084-4DC3-F9F1-962587CAFD18}"/>
              </a:ext>
            </a:extLst>
          </p:cNvPr>
          <p:cNvSpPr txBox="1">
            <a:spLocks/>
          </p:cNvSpPr>
          <p:nvPr/>
        </p:nvSpPr>
        <p:spPr>
          <a:xfrm>
            <a:off x="396712" y="1752880"/>
            <a:ext cx="5487548" cy="30795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1" i="0" u="none" strike="noStrike" cap="none">
                <a:solidFill>
                  <a:schemeClr val="accent1"/>
                </a:solidFill>
                <a:latin typeface="+mj-lt"/>
                <a:ea typeface="Rockwell" panose="02060603020205020403" pitchFamily="18" charset="77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b="0" kern="0" dirty="0">
                <a:latin typeface="Arial Nova Light" panose="020B0304020202020204" pitchFamily="34" charset="0"/>
              </a:rPr>
              <a:t>A Customized Resource for:  FSQA  |  OHS  |  HR  |  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E8E23F-0868-7132-8E18-3E152477E13F}"/>
              </a:ext>
            </a:extLst>
          </p:cNvPr>
          <p:cNvSpPr txBox="1"/>
          <p:nvPr/>
        </p:nvSpPr>
        <p:spPr>
          <a:xfrm>
            <a:off x="457197" y="9157322"/>
            <a:ext cx="68580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4950" marR="0" lvl="0" indent="-234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Investigation records must be retained for a minimum of eight years following closure.</a:t>
            </a:r>
          </a:p>
        </p:txBody>
      </p:sp>
    </p:spTree>
    <p:extLst>
      <p:ext uri="{BB962C8B-B14F-4D97-AF65-F5344CB8AC3E}">
        <p14:creationId xmlns:p14="http://schemas.microsoft.com/office/powerpoint/2010/main" val="36336263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urpose Template Theme_2025-01">
  <a:themeElements>
    <a:clrScheme name="Custom 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AB5"/>
      </a:accent1>
      <a:accent2>
        <a:srgbClr val="E53B29"/>
      </a:accent2>
      <a:accent3>
        <a:srgbClr val="BDD8FF"/>
      </a:accent3>
      <a:accent4>
        <a:srgbClr val="65BDE0"/>
      </a:accent4>
      <a:accent5>
        <a:srgbClr val="5B9BD5"/>
      </a:accent5>
      <a:accent6>
        <a:srgbClr val="70AD47"/>
      </a:accent6>
      <a:hlink>
        <a:srgbClr val="000000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rpose Template Theme_2025-01" id="{0FEFED2B-7B4D-41E9-8E1E-0B3B1C4C5450}" vid="{3A827F32-F8D5-4CC5-950B-D7FBEFEB22EB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9506957EB32D49972F3749A0F69210" ma:contentTypeVersion="14" ma:contentTypeDescription="Create a new document." ma:contentTypeScope="" ma:versionID="8c1ea89303bdcca78323a6a2b7995b3b">
  <xsd:schema xmlns:xsd="http://www.w3.org/2001/XMLSchema" xmlns:xs="http://www.w3.org/2001/XMLSchema" xmlns:p="http://schemas.microsoft.com/office/2006/metadata/properties" xmlns:ns2="f7d4d77e-e286-4e9f-80c4-a9aba1746ac2" xmlns:ns3="9c15659f-22e6-4b1d-9ae1-d1ac0497998f" targetNamespace="http://schemas.microsoft.com/office/2006/metadata/properties" ma:root="true" ma:fieldsID="a09cf5817b6d1ae1bf5d399ad7cc1ba3" ns2:_="" ns3:_="">
    <xsd:import namespace="f7d4d77e-e286-4e9f-80c4-a9aba1746ac2"/>
    <xsd:import namespace="9c15659f-22e6-4b1d-9ae1-d1ac049799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d4d77e-e286-4e9f-80c4-a9aba1746a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6e05965-6d5a-4f81-9c31-082e848883b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15659f-22e6-4b1d-9ae1-d1ac0497998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8153c7b-1b10-4ed6-afe8-a91001519b24}" ma:internalName="TaxCatchAll" ma:showField="CatchAllData" ma:web="9c15659f-22e6-4b1d-9ae1-d1ac049799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d4d77e-e286-4e9f-80c4-a9aba1746ac2">
      <Terms xmlns="http://schemas.microsoft.com/office/infopath/2007/PartnerControls"/>
    </lcf76f155ced4ddcb4097134ff3c332f>
    <TaxCatchAll xmlns="9c15659f-22e6-4b1d-9ae1-d1ac0497998f" xsi:nil="true"/>
  </documentManagement>
</p:properties>
</file>

<file path=customXml/itemProps1.xml><?xml version="1.0" encoding="utf-8"?>
<ds:datastoreItem xmlns:ds="http://schemas.openxmlformats.org/officeDocument/2006/customXml" ds:itemID="{18D3AF38-3B64-453F-9180-D5CE71866F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0478AF2-0A75-48F7-8822-6A25AF224894}">
  <ds:schemaRefs>
    <ds:schemaRef ds:uri="9c15659f-22e6-4b1d-9ae1-d1ac0497998f"/>
    <ds:schemaRef ds:uri="f7d4d77e-e286-4e9f-80c4-a9aba1746ac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5BB8C6E-FB43-4202-8C4C-BB9181FB0649}">
  <ds:schemaRefs>
    <ds:schemaRef ds:uri="http://purl.org/dc/dcmitype/"/>
    <ds:schemaRef ds:uri="f7d4d77e-e286-4e9f-80c4-a9aba1746ac2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  <ds:schemaRef ds:uri="9c15659f-22e6-4b1d-9ae1-d1ac0497998f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606</TotalTime>
  <Words>793</Words>
  <Application>Microsoft Office PowerPoint</Application>
  <PresentationFormat>Custom</PresentationFormat>
  <Paragraphs>94</Paragraphs>
  <Slides>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72 Light</vt:lpstr>
      <vt:lpstr>GT Walsheim Bold</vt:lpstr>
      <vt:lpstr>Arial</vt:lpstr>
      <vt:lpstr>Arial Nova Light</vt:lpstr>
      <vt:lpstr>Rockwell</vt:lpstr>
      <vt:lpstr>Wingdings</vt:lpstr>
      <vt:lpstr>Purpose Template Theme_2025-01</vt:lpstr>
      <vt:lpstr>think-cell Slide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Tamboli, Janine</dc:creator>
  <cp:lastModifiedBy>Ferrier, Lindsay</cp:lastModifiedBy>
  <cp:revision>3</cp:revision>
  <cp:lastPrinted>2025-08-26T16:50:20Z</cp:lastPrinted>
  <dcterms:created xsi:type="dcterms:W3CDTF">2025-01-24T14:56:53Z</dcterms:created>
  <dcterms:modified xsi:type="dcterms:W3CDTF">2026-02-25T17:32:56Z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0x010100569506957EB32D49972F3749A0F69210</vt:lpwstr>
  </property>
  <property fmtid="{D5CDD505-2E9C-101B-9397-08002B2CF9AE}" pid="3" name="MediaServiceImageTags">
    <vt:lpwstr/>
  </property>
</Properties>
</file>