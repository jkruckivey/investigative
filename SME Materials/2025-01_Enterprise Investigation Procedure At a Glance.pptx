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79300" cy="9134475" type="ledg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66" autoAdjust="0"/>
  </p:normalViewPr>
  <p:slideViewPr>
    <p:cSldViewPr snapToGrid="0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CEAA8-8510-450B-BC54-9B79E50BA7A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BEB6E-8A79-4F0E-A93C-1E8F8623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5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BEB6E-8A79-4F0E-A93C-1E8F862301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2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1494925"/>
            <a:ext cx="10352405" cy="3180151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2277278"/>
            <a:ext cx="10504646" cy="3799687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6112912"/>
            <a:ext cx="10504646" cy="1998166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>
                    <a:tint val="82000"/>
                  </a:schemeClr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82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7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2431631"/>
            <a:ext cx="5176203" cy="57957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1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486328"/>
            <a:ext cx="10504646" cy="1765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2239216"/>
            <a:ext cx="5152414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3336620"/>
            <a:ext cx="5152414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2239216"/>
            <a:ext cx="5177789" cy="1097405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3336620"/>
            <a:ext cx="5177789" cy="4907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6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8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315197"/>
            <a:ext cx="6165771" cy="6491398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1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08965"/>
            <a:ext cx="3928141" cy="2131378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315197"/>
            <a:ext cx="6165771" cy="6491398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2740343"/>
            <a:ext cx="3928141" cy="5076823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58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486326"/>
            <a:ext cx="2626162" cy="77410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486326"/>
            <a:ext cx="7726243" cy="77410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2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486328"/>
            <a:ext cx="10504646" cy="1765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2431631"/>
            <a:ext cx="10504646" cy="5795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51263-F0F5-456F-BF1F-7E3FFC390F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8466307"/>
            <a:ext cx="4110514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8466307"/>
            <a:ext cx="2740343" cy="4863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E3C17-42D4-4D41-A1B4-4D32FA0BA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6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1472CF-09A8-CDAD-47F0-FE109DE52408}"/>
              </a:ext>
            </a:extLst>
          </p:cNvPr>
          <p:cNvSpPr txBox="1"/>
          <p:nvPr/>
        </p:nvSpPr>
        <p:spPr>
          <a:xfrm>
            <a:off x="3833304" y="2808482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An independent, appropriately trained investigator is identified.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Conflicts of interest are assessed and addressed.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For Significant Investigations, Internal Audit (IA) and Legal involvement is established prior to proceeding.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786C5A6-DD4B-E6E1-07CC-FA3BD3B03BDA}"/>
              </a:ext>
            </a:extLst>
          </p:cNvPr>
          <p:cNvSpPr txBox="1">
            <a:spLocks/>
          </p:cNvSpPr>
          <p:nvPr/>
        </p:nvSpPr>
        <p:spPr>
          <a:xfrm>
            <a:off x="284571" y="450612"/>
            <a:ext cx="9966960" cy="4508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chemeClr val="accent1"/>
                </a:solidFill>
                <a:latin typeface="+mj-lt"/>
                <a:ea typeface="Rockwell" panose="02060603020205020403" pitchFamily="18" charset="77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400" b="1" i="0" u="none" strike="noStrike" kern="0" cap="none" spc="0" normalizeH="0" baseline="0" noProof="0" dirty="0">
                <a:ln>
                  <a:noFill/>
                </a:ln>
                <a:solidFill>
                  <a:srgbClr val="004AB5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Enterprise Investigation Procedure At a Glance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C156F0-C0DD-F5A2-5AB3-6AA2D5DFAC18}"/>
              </a:ext>
            </a:extLst>
          </p:cNvPr>
          <p:cNvSpPr txBox="1">
            <a:spLocks/>
          </p:cNvSpPr>
          <p:nvPr/>
        </p:nvSpPr>
        <p:spPr>
          <a:xfrm>
            <a:off x="284570" y="993755"/>
            <a:ext cx="9378413" cy="6354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chemeClr val="accent1"/>
                </a:solidFill>
                <a:latin typeface="+mj-lt"/>
                <a:ea typeface="Rockwell" panose="02060603020205020403" pitchFamily="18" charset="77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9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lnSpc>
                <a:spcPct val="100000"/>
              </a:lnSpc>
            </a:pPr>
            <a:r>
              <a:rPr lang="en-US" sz="1600" b="0" kern="0" dirty="0">
                <a:solidFill>
                  <a:srgbClr val="004AB5"/>
                </a:solidFill>
                <a:latin typeface="Arial Nova Light" panose="020B0304020202020204" pitchFamily="34" charset="0"/>
              </a:rPr>
              <a:t>This procedure applies to all formal investigations (“Significant” and “Minor”). Where a matter is classified as “No Formal Investigation”, appropriate informal resolution and documentation requirements apply.</a:t>
            </a:r>
          </a:p>
        </p:txBody>
      </p:sp>
      <p:pic>
        <p:nvPicPr>
          <p:cNvPr id="8" name="Picture 7" descr="A red leaf on a blue background&#10;&#10;AI-generated content may be incorrect.">
            <a:extLst>
              <a:ext uri="{FF2B5EF4-FFF2-40B4-BE49-F238E27FC236}">
                <a16:creationId xmlns:a16="http://schemas.microsoft.com/office/drawing/2014/main" id="{08EF46B0-A77D-7F76-03BA-1BC31AA1F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652" y="536994"/>
            <a:ext cx="635503" cy="77449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90208FB-9415-BAF0-6808-29C5B3821DF1}"/>
              </a:ext>
            </a:extLst>
          </p:cNvPr>
          <p:cNvSpPr/>
          <p:nvPr/>
        </p:nvSpPr>
        <p:spPr>
          <a:xfrm>
            <a:off x="552217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Report </a:t>
            </a:r>
            <a:b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Received and Classified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FD0AAC6-C10F-27CC-004E-AE287DCB9DA6}"/>
              </a:ext>
            </a:extLst>
          </p:cNvPr>
          <p:cNvSpPr/>
          <p:nvPr/>
        </p:nvSpPr>
        <p:spPr>
          <a:xfrm>
            <a:off x="313366" y="2259015"/>
            <a:ext cx="457200" cy="457200"/>
          </a:xfrm>
          <a:prstGeom prst="ellipse">
            <a:avLst/>
          </a:prstGeom>
          <a:solidFill>
            <a:srgbClr val="E8322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ExtraBold" panose="020F0502020204030204" pitchFamily="34" charset="0"/>
              </a:rPr>
              <a:t>!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ExtraBold" panose="020F05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216338-2DD2-052E-31FC-F8F95C9EE4EE}"/>
              </a:ext>
            </a:extLst>
          </p:cNvPr>
          <p:cNvSpPr/>
          <p:nvPr/>
        </p:nvSpPr>
        <p:spPr>
          <a:xfrm>
            <a:off x="3829843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lIns="45720" rIns="45720"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Investigator Assigned with Required Oversight in Place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C8BEF2-AC69-BB30-691A-43A471B60708}"/>
              </a:ext>
            </a:extLst>
          </p:cNvPr>
          <p:cNvSpPr/>
          <p:nvPr/>
        </p:nvSpPr>
        <p:spPr>
          <a:xfrm>
            <a:off x="5468656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Investigation Approach Defined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0D567E-EE1E-5ECE-9811-1FCFD6DE6E58}"/>
              </a:ext>
            </a:extLst>
          </p:cNvPr>
          <p:cNvSpPr/>
          <p:nvPr/>
        </p:nvSpPr>
        <p:spPr>
          <a:xfrm>
            <a:off x="7107469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lIns="45720" rIns="45720"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Information Gathered and Interviews Conducted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2CF8CC-9101-7BD9-66E8-FF17944ED5A8}"/>
              </a:ext>
            </a:extLst>
          </p:cNvPr>
          <p:cNvSpPr/>
          <p:nvPr/>
        </p:nvSpPr>
        <p:spPr>
          <a:xfrm>
            <a:off x="8746282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Findings Assessed and Outcomes Determined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5949D1-83C2-ACD5-15E1-21BE4653BF69}"/>
              </a:ext>
            </a:extLst>
          </p:cNvPr>
          <p:cNvSpPr/>
          <p:nvPr/>
        </p:nvSpPr>
        <p:spPr>
          <a:xfrm>
            <a:off x="10385097" y="2168183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Documentation Completed and Records Retained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619EF-F920-6D9D-7FC9-8FA959D329D7}"/>
              </a:ext>
            </a:extLst>
          </p:cNvPr>
          <p:cNvSpPr txBox="1"/>
          <p:nvPr/>
        </p:nvSpPr>
        <p:spPr>
          <a:xfrm>
            <a:off x="5473847" y="2808482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The investigation approach and sequence are established.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Relevant documents, systems, and interviews are identified.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A clear and proportionate timeline is established (generally two to three weeks for </a:t>
            </a:r>
            <a:r>
              <a:rPr lang="en-US" sz="1000" dirty="0" err="1">
                <a:latin typeface="Arial Nova Light" panose="020B0304020202020204" pitchFamily="34" charset="0"/>
              </a:rPr>
              <a:t>EthicsLine</a:t>
            </a:r>
            <a:r>
              <a:rPr lang="en-US" sz="1000" dirty="0">
                <a:latin typeface="Arial Nova Light" panose="020B0304020202020204" pitchFamily="34" charset="0"/>
              </a:rPr>
              <a:t> Reports and Significant investigations). Notify IA if delays occur.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8EE58-EC95-A906-C16E-80D084272B90}"/>
              </a:ext>
            </a:extLst>
          </p:cNvPr>
          <p:cNvSpPr txBox="1"/>
          <p:nvPr/>
        </p:nvSpPr>
        <p:spPr>
          <a:xfrm>
            <a:off x="7114390" y="2808481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Relevant records and evidence are collected.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Interviews are conducted with appropriate parties.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Confidentiality and non-retaliation expectations are maintained.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Union or legal representation requirements are observed where applicable.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25D1C0-4365-633F-A5C1-67A66CC29AF0}"/>
              </a:ext>
            </a:extLst>
          </p:cNvPr>
          <p:cNvSpPr txBox="1"/>
          <p:nvPr/>
        </p:nvSpPr>
        <p:spPr>
          <a:xfrm>
            <a:off x="8754933" y="2808481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Information is analyzed objectively against policy and standards.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Findings are documented, including whether allegations are substantiated.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Outcomes and next steps are determined in consultation with appropriate stakeholders.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IA and Legal review occurs where required.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95B1C1-3677-174A-315A-F7D5DDCEA2C1}"/>
              </a:ext>
            </a:extLst>
          </p:cNvPr>
          <p:cNvSpPr txBox="1"/>
          <p:nvPr/>
        </p:nvSpPr>
        <p:spPr>
          <a:xfrm>
            <a:off x="10395478" y="2809919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Investigation documentation is finalized.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Outcomes are communicated appropriately.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Records are stored securely and retained for a minimum of eight years in accordance with enterprise requirements.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DF6F35-3718-070F-2663-C266AD984C2E}"/>
              </a:ext>
            </a:extLst>
          </p:cNvPr>
          <p:cNvSpPr/>
          <p:nvPr/>
        </p:nvSpPr>
        <p:spPr>
          <a:xfrm>
            <a:off x="2191030" y="2166746"/>
            <a:ext cx="1371600" cy="641738"/>
          </a:xfrm>
          <a:prstGeom prst="rect">
            <a:avLst/>
          </a:prstGeom>
          <a:noFill/>
          <a:ln w="19050" cap="flat" cmpd="sng" algn="ctr">
            <a:solidFill>
              <a:srgbClr val="01539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Report Reviewed and Scope Established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94DB6-57D8-C603-FA66-F8C3DAE36D5C}"/>
              </a:ext>
            </a:extLst>
          </p:cNvPr>
          <p:cNvSpPr txBox="1"/>
          <p:nvPr/>
        </p:nvSpPr>
        <p:spPr>
          <a:xfrm>
            <a:off x="2192761" y="2808481"/>
            <a:ext cx="1371600" cy="3225115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wrap="square">
            <a:noAutofit/>
          </a:bodyPr>
          <a:lstStyle/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The allegation and relevant details are reviewed.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The scope of the investigation is clearly defined.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Applicable policies, SOPs, and standards are identified.</a:t>
            </a:r>
          </a:p>
          <a:p>
            <a:pPr marL="112713" indent="-11271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 Nova Light" panose="020B0304020202020204" pitchFamily="34" charset="0"/>
              </a:rPr>
              <a:t>The investigation level and required escalation are confirmed.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EA6DEAB-001E-5FFB-6955-CB61B892EF44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>
            <a:off x="1923817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AEF08DE-590F-4827-9F3C-24C3A4862089}"/>
              </a:ext>
            </a:extLst>
          </p:cNvPr>
          <p:cNvCxnSpPr>
            <a:cxnSpLocks/>
          </p:cNvCxnSpPr>
          <p:nvPr/>
        </p:nvCxnSpPr>
        <p:spPr>
          <a:xfrm>
            <a:off x="3562630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7C99B0-EA3E-1CDB-CC4B-B564710A3B00}"/>
              </a:ext>
            </a:extLst>
          </p:cNvPr>
          <p:cNvCxnSpPr>
            <a:cxnSpLocks/>
          </p:cNvCxnSpPr>
          <p:nvPr/>
        </p:nvCxnSpPr>
        <p:spPr>
          <a:xfrm>
            <a:off x="5201443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AD46A4-D9C2-3684-0BAC-22F106A1790B}"/>
              </a:ext>
            </a:extLst>
          </p:cNvPr>
          <p:cNvCxnSpPr>
            <a:cxnSpLocks/>
          </p:cNvCxnSpPr>
          <p:nvPr/>
        </p:nvCxnSpPr>
        <p:spPr>
          <a:xfrm>
            <a:off x="6840256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68CABB-F797-873A-A8F8-4C394C899126}"/>
              </a:ext>
            </a:extLst>
          </p:cNvPr>
          <p:cNvCxnSpPr>
            <a:cxnSpLocks/>
          </p:cNvCxnSpPr>
          <p:nvPr/>
        </p:nvCxnSpPr>
        <p:spPr>
          <a:xfrm>
            <a:off x="8487724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5676EF-979A-3B21-0ED4-9006150EACBD}"/>
              </a:ext>
            </a:extLst>
          </p:cNvPr>
          <p:cNvCxnSpPr>
            <a:cxnSpLocks/>
          </p:cNvCxnSpPr>
          <p:nvPr/>
        </p:nvCxnSpPr>
        <p:spPr>
          <a:xfrm>
            <a:off x="10126537" y="2487615"/>
            <a:ext cx="2672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0D8EAD-E393-8BC5-284E-4E26F725757B}"/>
              </a:ext>
            </a:extLst>
          </p:cNvPr>
          <p:cNvSpPr txBox="1"/>
          <p:nvPr/>
        </p:nvSpPr>
        <p:spPr>
          <a:xfrm>
            <a:off x="2191030" y="6121192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77BDB7-8655-E148-78FE-65B9BB405D0D}"/>
              </a:ext>
            </a:extLst>
          </p:cNvPr>
          <p:cNvSpPr txBox="1"/>
          <p:nvPr/>
        </p:nvSpPr>
        <p:spPr>
          <a:xfrm>
            <a:off x="3847023" y="6121191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0A5D62-6BB1-AB29-0AE3-3BD6F29076FF}"/>
              </a:ext>
            </a:extLst>
          </p:cNvPr>
          <p:cNvSpPr txBox="1"/>
          <p:nvPr/>
        </p:nvSpPr>
        <p:spPr>
          <a:xfrm>
            <a:off x="5468656" y="6121191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6570A5-1F5D-4A4B-E983-3B58DE99D5CA}"/>
              </a:ext>
            </a:extLst>
          </p:cNvPr>
          <p:cNvSpPr txBox="1"/>
          <p:nvPr/>
        </p:nvSpPr>
        <p:spPr>
          <a:xfrm>
            <a:off x="7124649" y="6121190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2EDFBD-6E28-DC26-07E3-219508DC73AD}"/>
              </a:ext>
            </a:extLst>
          </p:cNvPr>
          <p:cNvSpPr txBox="1"/>
          <p:nvPr/>
        </p:nvSpPr>
        <p:spPr>
          <a:xfrm>
            <a:off x="8729104" y="6121191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65E1E4-BEB4-7441-9A7A-659E7832EBEF}"/>
              </a:ext>
            </a:extLst>
          </p:cNvPr>
          <p:cNvSpPr txBox="1"/>
          <p:nvPr/>
        </p:nvSpPr>
        <p:spPr>
          <a:xfrm>
            <a:off x="10385097" y="6121190"/>
            <a:ext cx="1371600" cy="13235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lang="en-US" sz="1000" dirty="0">
                <a:latin typeface="Arial Nova Light" panose="020B0304020202020204" pitchFamily="34" charset="0"/>
              </a:rPr>
              <a:t>Functional  Considerations: </a:t>
            </a:r>
          </a:p>
          <a:p>
            <a:pPr marL="119063" indent="-119063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rial Nova Light" panose="020B03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F5CFD6-EBE2-2A2F-2AD0-8797762BF1A7}"/>
              </a:ext>
            </a:extLst>
          </p:cNvPr>
          <p:cNvSpPr txBox="1"/>
          <p:nvPr/>
        </p:nvSpPr>
        <p:spPr>
          <a:xfrm>
            <a:off x="2191030" y="7536551"/>
            <a:ext cx="9576048" cy="450871"/>
          </a:xfrm>
          <a:prstGeom prst="rect">
            <a:avLst/>
          </a:prstGeom>
          <a:solidFill>
            <a:schemeClr val="accent2"/>
          </a:solidFill>
        </p:spPr>
        <p:txBody>
          <a:bodyPr wrap="square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chemeClr val="bg1"/>
                </a:solidFill>
                <a:latin typeface="Arial Nova Light" panose="020B0304020202020204" pitchFamily="34" charset="0"/>
              </a:rPr>
              <a:t>Key Enterprise Expectations: 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chemeClr val="bg1"/>
                </a:solidFill>
                <a:latin typeface="Arial Nova Light" panose="020B0304020202020204" pitchFamily="34" charset="0"/>
              </a:rPr>
              <a:t>Reassess if facts change  |  Escalate when uncertain  |  Documentation </a:t>
            </a:r>
            <a:r>
              <a:rPr lang="en-US" sz="1000">
                <a:solidFill>
                  <a:schemeClr val="bg1"/>
                </a:solidFill>
                <a:latin typeface="Arial Nova Light" panose="020B0304020202020204" pitchFamily="34" charset="0"/>
              </a:rPr>
              <a:t>and retention are </a:t>
            </a:r>
            <a:r>
              <a:rPr lang="en-US" sz="1000" dirty="0">
                <a:solidFill>
                  <a:schemeClr val="bg1"/>
                </a:solidFill>
                <a:latin typeface="Arial Nova Light" panose="020B0304020202020204" pitchFamily="34" charset="0"/>
              </a:rPr>
              <a:t>required for all investigation levels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E738C9-325D-F4AA-3AAE-C449D34A0DAB}"/>
              </a:ext>
            </a:extLst>
          </p:cNvPr>
          <p:cNvCxnSpPr>
            <a:cxnSpLocks/>
          </p:cNvCxnSpPr>
          <p:nvPr/>
        </p:nvCxnSpPr>
        <p:spPr>
          <a:xfrm>
            <a:off x="436323" y="8727211"/>
            <a:ext cx="1133856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7B21EDB8-49CC-1F8F-377A-9A50BCF2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427" y="8705187"/>
            <a:ext cx="295456" cy="274519"/>
          </a:xfrm>
        </p:spPr>
        <p:txBody>
          <a:bodyPr rIns="0"/>
          <a:lstStyle/>
          <a:p>
            <a:fld id="{AF6E3C17-42D4-4D41-A1B4-4D32FA0BA5F1}" type="slidenum">
              <a:rPr lang="en-US" sz="900" smtClean="0">
                <a:solidFill>
                  <a:schemeClr val="tx2"/>
                </a:solidFill>
              </a:rPr>
              <a:pPr/>
              <a:t>1</a:t>
            </a:fld>
            <a:endParaRPr lang="en-US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99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0149B5"/>
      </a:accent1>
      <a:accent2>
        <a:srgbClr val="09254E"/>
      </a:accent2>
      <a:accent3>
        <a:srgbClr val="E43234"/>
      </a:accent3>
      <a:accent4>
        <a:srgbClr val="EEEEE8"/>
      </a:accent4>
      <a:accent5>
        <a:srgbClr val="CCDBF1"/>
      </a:accent5>
      <a:accent6>
        <a:srgbClr val="01539C"/>
      </a:accent6>
      <a:hlink>
        <a:srgbClr val="09254E"/>
      </a:hlink>
      <a:folHlink>
        <a:srgbClr val="B2B2B2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4631</TotalTime>
  <Words>330</Words>
  <Application>Microsoft Office PowerPoint</Application>
  <PresentationFormat>Ledger Paper (11x17 in)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ExtraBold</vt:lpstr>
      <vt:lpstr>Arial</vt:lpstr>
      <vt:lpstr>Arial Nova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Tamboli, Janine</dc:creator>
  <cp:lastModifiedBy>Ferrier, Lindsay</cp:lastModifiedBy>
  <cp:revision>4</cp:revision>
  <dcterms:created xsi:type="dcterms:W3CDTF">2026-01-06T14:31:02Z</dcterms:created>
  <dcterms:modified xsi:type="dcterms:W3CDTF">2026-02-25T17:32:16Z</dcterms:modified>
</cp:coreProperties>
</file>